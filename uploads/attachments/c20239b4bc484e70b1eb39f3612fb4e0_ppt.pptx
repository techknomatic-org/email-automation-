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2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6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04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9017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3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593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67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5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883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0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4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309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404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5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698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1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7235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706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9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5037" y="534572"/>
            <a:ext cx="147758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 err="1" smtClean="0"/>
              <a:t>GeoLibre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382430" y="6510528"/>
            <a:ext cx="1847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endParaRPr lang="en-GB" dirty="0" smtClean="0"/>
          </a:p>
          <a:p>
            <a:pPr algn="r">
              <a:defRPr sz="900"/>
            </a:pP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269609" y="1674057"/>
            <a:ext cx="824366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/>
            </a:pPr>
            <a:r>
              <a:rPr lang="en-GB" sz="2100" dirty="0" smtClean="0"/>
              <a:t>GIS- Geographical Information System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/>
            </a:pPr>
            <a:r>
              <a:rPr lang="en-GB" sz="2100" dirty="0" err="1" smtClean="0"/>
              <a:t>GeoLibre</a:t>
            </a:r>
            <a:r>
              <a:rPr lang="en-GB" sz="2100" dirty="0" smtClean="0"/>
              <a:t> </a:t>
            </a:r>
            <a:r>
              <a:rPr lang="en-GB" sz="2100" dirty="0"/>
              <a:t>vs QGIS vs ArcGIS </a:t>
            </a:r>
            <a:r>
              <a:rPr lang="en-GB" sz="2100" dirty="0" smtClean="0"/>
              <a:t>—</a:t>
            </a:r>
            <a:endParaRPr lang="en-IN" sz="2100" dirty="0" smtClean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/>
            </a:pPr>
            <a:r>
              <a:rPr lang="en-IN" sz="2100" dirty="0" err="1" smtClean="0"/>
              <a:t>GeoLibre</a:t>
            </a:r>
            <a:r>
              <a:rPr lang="en-IN" sz="2100" dirty="0"/>
              <a:t>: free/open-source, browser-first, cloud-native, local browser processing, modern SQL/AI/plugin workflows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IN" sz="2100" dirty="0"/>
              <a:t>QGIS: free/open-source professional desktop GIS with a very large plugin ecosystem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lang="en-IN" sz="2100" dirty="0"/>
              <a:t>ArcGIS Pro: proprietary professional desktop GIS within </a:t>
            </a:r>
            <a:r>
              <a:rPr lang="en-IN" sz="2100" dirty="0" err="1"/>
              <a:t>Esri's</a:t>
            </a:r>
            <a:r>
              <a:rPr lang="en-IN" sz="2100" dirty="0"/>
              <a:t> broader enterprise </a:t>
            </a:r>
            <a:r>
              <a:rPr lang="en-IN" sz="2100" dirty="0" smtClean="0"/>
              <a:t>ecosystem</a:t>
            </a:r>
            <a:endParaRPr lang="en-IN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What Problem Does </a:t>
            </a:r>
            <a:r>
              <a:rPr dirty="0" err="1"/>
              <a:t>GeoLibre</a:t>
            </a:r>
            <a:r>
              <a:rPr dirty="0"/>
              <a:t> Solve?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Traditional GIS can require desktop installation and complex setup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 err="1"/>
              <a:t>GeoLibre</a:t>
            </a:r>
            <a:r>
              <a:rPr dirty="0"/>
              <a:t> provides a browser-first GIS experience with no installation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Core browser workflows process data client-side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It combines modern cloud-native data access with traditional GIS analysis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It is not intended as a universal replacement for QGIS or ArcGIS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Add Data — What Can </a:t>
            </a:r>
            <a:r>
              <a:rPr dirty="0" err="1"/>
              <a:t>GeoLibre</a:t>
            </a:r>
            <a:r>
              <a:rPr dirty="0"/>
              <a:t> Load?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Files: CSV, </a:t>
            </a:r>
            <a:r>
              <a:rPr dirty="0" err="1"/>
              <a:t>GeoJSON</a:t>
            </a:r>
            <a:r>
              <a:rPr dirty="0"/>
              <a:t>, </a:t>
            </a:r>
            <a:r>
              <a:rPr dirty="0" err="1"/>
              <a:t>GeoParquet</a:t>
            </a:r>
            <a:r>
              <a:rPr dirty="0"/>
              <a:t>, </a:t>
            </a:r>
            <a:r>
              <a:rPr dirty="0" err="1"/>
              <a:t>FlatGeobuf</a:t>
            </a:r>
            <a:r>
              <a:rPr dirty="0"/>
              <a:t>, </a:t>
            </a:r>
            <a:r>
              <a:rPr dirty="0" err="1"/>
              <a:t>Shapefile</a:t>
            </a:r>
            <a:r>
              <a:rPr dirty="0"/>
              <a:t>, </a:t>
            </a:r>
            <a:r>
              <a:rPr dirty="0" err="1"/>
              <a:t>GeoPackage</a:t>
            </a:r>
            <a:r>
              <a:rPr dirty="0"/>
              <a:t>, KML/KMZ, GML, </a:t>
            </a:r>
            <a:r>
              <a:rPr dirty="0" err="1"/>
              <a:t>GeoTIFF</a:t>
            </a:r>
            <a:r>
              <a:rPr dirty="0"/>
              <a:t>/COG, GPX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Web services: XYZ, WMS, WFS, WMTS and ArcGIS services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Cloud-native data: </a:t>
            </a:r>
            <a:r>
              <a:rPr dirty="0" err="1"/>
              <a:t>PMTiles</a:t>
            </a:r>
            <a:r>
              <a:rPr dirty="0"/>
              <a:t>, </a:t>
            </a:r>
            <a:r>
              <a:rPr dirty="0" err="1"/>
              <a:t>Zarr</a:t>
            </a:r>
            <a:r>
              <a:rPr dirty="0"/>
              <a:t> and other modern formats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3D: LiDAR, 3D Tiles and Gaussian splats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Databases/integrations: PostgreSQL/</a:t>
            </a:r>
            <a:r>
              <a:rPr dirty="0" err="1"/>
              <a:t>PostGIS</a:t>
            </a:r>
            <a:r>
              <a:rPr dirty="0"/>
              <a:t>, </a:t>
            </a:r>
            <a:r>
              <a:rPr dirty="0" err="1"/>
              <a:t>DuckDB</a:t>
            </a:r>
            <a:r>
              <a:rPr dirty="0"/>
              <a:t> and external geospatial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Layers, Attributes &amp; Styling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Every dataset becomes a map layer with source and style information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Layers can be ordered, shown/hidden, selected and inspected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Attribute data describes the geographic features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/>
            </a:pPr>
            <a:r>
              <a:rPr sz="2100" dirty="0"/>
              <a:t>Styling supports single, categorized, graduated, rule/expression, </a:t>
            </a:r>
            <a:r>
              <a:rPr sz="2100" dirty="0" err="1"/>
              <a:t>heatmap</a:t>
            </a:r>
            <a:r>
              <a:rPr sz="2100" dirty="0"/>
              <a:t>, cluster and proportional-symbol views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The result is both a geographic map and an analytical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Controls — How We Interact With 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Navigation: pan, zoom, rotate and tilt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Map controls include scale, geolocation, terrain, globe and attribution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Tools include Measure, Bookmark, </a:t>
            </a:r>
            <a:r>
              <a:rPr dirty="0" err="1"/>
              <a:t>Minimap</a:t>
            </a:r>
            <a:r>
              <a:rPr dirty="0"/>
              <a:t>, Search, Print and View State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Field Collection can capture point, line and polygon observations with forms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Controls are for interacting with the map; Processing is for transforming/analyzing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Processing — The GIS Analysis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Processing contains analysis and conversion tools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Vector operations include Buffer, Centroids, Convex Hull, Dissolve and Bounding Box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/>
            </a:pPr>
            <a:r>
              <a:rPr sz="2100" dirty="0"/>
              <a:t>Other processing areas include raster, conversion, hydrology, LiDAR, network, projection and remote sensing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 err="1"/>
              <a:t>Whitebox</a:t>
            </a:r>
            <a:r>
              <a:rPr sz="2100" dirty="0"/>
              <a:t> Toolbox provides 1,000+ </a:t>
            </a:r>
            <a:r>
              <a:rPr sz="2100" dirty="0" err="1"/>
              <a:t>geoprocessing</a:t>
            </a:r>
            <a:r>
              <a:rPr sz="2100" dirty="0"/>
              <a:t> tools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Outputs are added back to the map as new layers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The Two Processing Toolboxes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 err="1"/>
              <a:t>Whitebox</a:t>
            </a:r>
            <a:r>
              <a:rPr sz="2100" dirty="0"/>
              <a:t> Toolbox and </a:t>
            </a:r>
            <a:r>
              <a:rPr sz="2100" dirty="0" err="1"/>
              <a:t>GeoLibre</a:t>
            </a:r>
            <a:r>
              <a:rPr sz="2100" dirty="0"/>
              <a:t> Toolbox are separate tool collections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This is a common source of confusion because category names can repeat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/>
            </a:pPr>
            <a:r>
              <a:rPr sz="2100" dirty="0" err="1"/>
              <a:t>GeoLibre</a:t>
            </a:r>
            <a:r>
              <a:rPr sz="2100" dirty="0"/>
              <a:t> vector tools can use Client/Turf.js, Python/</a:t>
            </a:r>
            <a:r>
              <a:rPr sz="2100" dirty="0" err="1"/>
              <a:t>Pyodide</a:t>
            </a:r>
            <a:r>
              <a:rPr sz="2100" dirty="0"/>
              <a:t>, or desktop Sidecar/</a:t>
            </a:r>
            <a:r>
              <a:rPr sz="2100" dirty="0" err="1"/>
              <a:t>GeoPandas</a:t>
            </a:r>
            <a:r>
              <a:rPr sz="2100" dirty="0"/>
              <a:t> engines depending on the environment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Processing History records runs and can rerun tools and copy equivalent Python code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This gives </a:t>
            </a:r>
            <a:r>
              <a:rPr sz="2100" dirty="0" err="1"/>
              <a:t>GeoLibre</a:t>
            </a:r>
            <a:r>
              <a:rPr sz="2100" dirty="0"/>
              <a:t> both user-friendly tools and deeper technical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/>
              <a:t>Plugins &amp; 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1700"/>
            </a:pPr>
            <a:r>
              <a:rPr sz="2100" dirty="0"/>
              <a:t>Built-in plugins include Layer Control, </a:t>
            </a:r>
            <a:r>
              <a:rPr sz="2100" dirty="0" err="1"/>
              <a:t>Basemaps</a:t>
            </a:r>
            <a:r>
              <a:rPr sz="2100" dirty="0"/>
              <a:t>, </a:t>
            </a:r>
            <a:r>
              <a:rPr sz="2100" dirty="0" err="1"/>
              <a:t>GeoEditor</a:t>
            </a:r>
            <a:r>
              <a:rPr sz="2100" dirty="0"/>
              <a:t>, Time Slider, Street View, LiDAR Viewer, Overture Maps and </a:t>
            </a:r>
            <a:r>
              <a:rPr sz="2100" dirty="0" err="1"/>
              <a:t>GeoAgent</a:t>
            </a:r>
            <a:endParaRPr sz="21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Marketplace supports one-click install, update and uninstall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Plugins are curated and require explicit consent because they run with app privileges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Developers can create </a:t>
            </a:r>
            <a:r>
              <a:rPr sz="2100" dirty="0" err="1"/>
              <a:t>TypeScript</a:t>
            </a:r>
            <a:r>
              <a:rPr sz="2100" dirty="0"/>
              <a:t> plugins through the Plugin API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  <a:defRPr sz="2100"/>
            </a:pPr>
            <a:r>
              <a:rPr sz="2100" dirty="0"/>
              <a:t>Organizations can extend </a:t>
            </a:r>
            <a:r>
              <a:rPr sz="2100" dirty="0" err="1"/>
              <a:t>GeoLibre</a:t>
            </a:r>
            <a:r>
              <a:rPr sz="2100" dirty="0"/>
              <a:t> for specialized workflows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18049"/>
            <a:ext cx="488986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rPr dirty="0" smtClean="0"/>
              <a:t>Customers </a:t>
            </a:r>
            <a:r>
              <a:rPr dirty="0"/>
              <a:t>Within 5 km of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527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rPr dirty="0"/>
              <a:t>1. Add customer CSV and store </a:t>
            </a:r>
            <a:r>
              <a:rPr dirty="0" err="1"/>
              <a:t>GeoJSON</a:t>
            </a:r>
            <a:endParaRPr dirty="0"/>
          </a:p>
          <a:p>
            <a:pPr>
              <a:spcAft>
                <a:spcPts val="1200"/>
              </a:spcAft>
              <a:defRPr sz="2100"/>
            </a:pPr>
            <a:r>
              <a:rPr dirty="0"/>
              <a:t>2. Display both as separate layers</a:t>
            </a:r>
          </a:p>
          <a:p>
            <a:pPr>
              <a:spcAft>
                <a:spcPts val="1200"/>
              </a:spcAft>
              <a:defRPr sz="2100"/>
            </a:pPr>
            <a:r>
              <a:rPr dirty="0"/>
              <a:t>3. Run Buffer on stores with a 5 km distance</a:t>
            </a:r>
          </a:p>
          <a:p>
            <a:pPr>
              <a:spcAft>
                <a:spcPts val="1200"/>
              </a:spcAft>
              <a:defRPr sz="2100"/>
            </a:pPr>
            <a:r>
              <a:rPr dirty="0"/>
              <a:t>4. Compare customers with the buffer using spatial analysis</a:t>
            </a:r>
          </a:p>
          <a:p>
            <a:pPr>
              <a:spcAft>
                <a:spcPts val="1200"/>
              </a:spcAft>
              <a:defRPr sz="2100"/>
            </a:pPr>
            <a:r>
              <a:rPr dirty="0"/>
              <a:t>5. Style the result and inspect attributes</a:t>
            </a:r>
          </a:p>
          <a:p>
            <a:pPr>
              <a:spcAft>
                <a:spcPts val="1200"/>
              </a:spcAft>
              <a:defRPr sz="2100"/>
            </a:pPr>
            <a:r>
              <a:rPr dirty="0"/>
              <a:t>6. Save/share the project or export the result</a:t>
            </a:r>
          </a:p>
          <a:p>
            <a:pPr>
              <a:spcAft>
                <a:spcPts val="1200"/>
              </a:spcAft>
              <a:defRPr sz="2100"/>
            </a:pPr>
            <a:r>
              <a:rPr dirty="0"/>
              <a:t>This demonstrates the common GIS pattern: data → layers → process → analysis → result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</TotalTime>
  <Words>563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Pooja Khalekar</dc:creator>
  <cp:keywords/>
  <dc:description>generated using python-pptx</dc:description>
  <cp:lastModifiedBy>Pooja Khalekar</cp:lastModifiedBy>
  <cp:revision>9</cp:revision>
  <dcterms:created xsi:type="dcterms:W3CDTF">2013-01-27T09:14:16Z</dcterms:created>
  <dcterms:modified xsi:type="dcterms:W3CDTF">2026-08-26T11:29:07Z</dcterms:modified>
  <cp:category/>
</cp:coreProperties>
</file>